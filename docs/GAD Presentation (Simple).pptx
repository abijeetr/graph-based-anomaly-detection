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unito Sans Bold" charset="1" panose="00000000000000000000"/>
      <p:regular r:id="rId14"/>
    </p:embeddedFont>
    <p:embeddedFont>
      <p:font typeface="Amiko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32049" y="1874861"/>
            <a:ext cx="12702632" cy="332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1"/>
              </a:lnSpc>
            </a:pPr>
            <a:r>
              <a:rPr lang="en-US" b="true" sz="650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USER CENTRIC EXPLAINABLE ANOMALY DETECTION IN GRAPH BASED DATABASE SYSTEMS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64432" y="6886081"/>
            <a:ext cx="6959136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Abijeet Rajasekaran</a:t>
            </a:r>
          </a:p>
          <a:p>
            <a:pPr algn="ctr">
              <a:lnSpc>
                <a:spcPts val="33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9924" y="6409769"/>
            <a:ext cx="5479690" cy="2635800"/>
          </a:xfrm>
          <a:custGeom>
            <a:avLst/>
            <a:gdLst/>
            <a:ahLst/>
            <a:cxnLst/>
            <a:rect r="r" b="b" t="t" l="l"/>
            <a:pathLst>
              <a:path h="2635800" w="5479690">
                <a:moveTo>
                  <a:pt x="0" y="0"/>
                </a:moveTo>
                <a:lnTo>
                  <a:pt x="5479691" y="0"/>
                </a:lnTo>
                <a:lnTo>
                  <a:pt x="5479691" y="2635801"/>
                </a:lnTo>
                <a:lnTo>
                  <a:pt x="0" y="26358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38111" y="313194"/>
            <a:ext cx="10998524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MOTIVATION AND 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9770" y="2099012"/>
            <a:ext cx="13521816" cy="40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Anomaly detection is of two main types: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Traditional (Naive) Systems: Methods that rely on purely on statistics, fail to capture the complex nature of modern datasets.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GADs: Pre-existing GADs use structural properties to identify deviations. However they are black box and cannot be verified by analysts.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6002" y="6046806"/>
            <a:ext cx="10957659" cy="3988972"/>
          </a:xfrm>
          <a:custGeom>
            <a:avLst/>
            <a:gdLst/>
            <a:ahLst/>
            <a:cxnLst/>
            <a:rect r="r" b="b" t="t" l="l"/>
            <a:pathLst>
              <a:path h="3988972" w="10957659">
                <a:moveTo>
                  <a:pt x="0" y="0"/>
                </a:moveTo>
                <a:lnTo>
                  <a:pt x="10957659" y="0"/>
                </a:lnTo>
                <a:lnTo>
                  <a:pt x="10957659" y="3988972"/>
                </a:lnTo>
                <a:lnTo>
                  <a:pt x="0" y="39889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87242" y="6382345"/>
            <a:ext cx="2597960" cy="3478380"/>
          </a:xfrm>
          <a:custGeom>
            <a:avLst/>
            <a:gdLst/>
            <a:ahLst/>
            <a:cxnLst/>
            <a:rect r="r" b="b" t="t" l="l"/>
            <a:pathLst>
              <a:path h="3478380" w="2597960">
                <a:moveTo>
                  <a:pt x="0" y="0"/>
                </a:moveTo>
                <a:lnTo>
                  <a:pt x="2597961" y="0"/>
                </a:lnTo>
                <a:lnTo>
                  <a:pt x="2597961" y="3478381"/>
                </a:lnTo>
                <a:lnTo>
                  <a:pt x="0" y="34783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65487" y="304800"/>
            <a:ext cx="10998524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INTRODUCTION AND NOVELTY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9770" y="1751290"/>
            <a:ext cx="13521816" cy="463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Our novelty lies in creating an explanatory module for the exact feature list of the GMLs.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This bridges the black box gap left by GAD black box and plausible errors.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Generates a human readable report and verifies spotter values as well as exceptions.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Proposes a hybrid approach of combining a spotter (ML model) with a detective (explanatory module).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7950" y="1501493"/>
            <a:ext cx="16592100" cy="7756807"/>
          </a:xfrm>
          <a:custGeom>
            <a:avLst/>
            <a:gdLst/>
            <a:ahLst/>
            <a:cxnLst/>
            <a:rect r="r" b="b" t="t" l="l"/>
            <a:pathLst>
              <a:path h="7756807" w="16592100">
                <a:moveTo>
                  <a:pt x="0" y="0"/>
                </a:moveTo>
                <a:lnTo>
                  <a:pt x="16592100" y="0"/>
                </a:lnTo>
                <a:lnTo>
                  <a:pt x="16592100" y="7756807"/>
                </a:lnTo>
                <a:lnTo>
                  <a:pt x="0" y="77568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05800" y="313194"/>
            <a:ext cx="109985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PROPOSED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9501" y="5852993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2803" y="3154796"/>
            <a:ext cx="4847547" cy="5169455"/>
          </a:xfrm>
          <a:custGeom>
            <a:avLst/>
            <a:gdLst/>
            <a:ahLst/>
            <a:cxnLst/>
            <a:rect r="r" b="b" t="t" l="l"/>
            <a:pathLst>
              <a:path h="5169455" w="4847547">
                <a:moveTo>
                  <a:pt x="0" y="0"/>
                </a:moveTo>
                <a:lnTo>
                  <a:pt x="4847547" y="0"/>
                </a:lnTo>
                <a:lnTo>
                  <a:pt x="4847547" y="5169455"/>
                </a:lnTo>
                <a:lnTo>
                  <a:pt x="0" y="5169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15848" y="5739524"/>
            <a:ext cx="10558029" cy="4638314"/>
          </a:xfrm>
          <a:custGeom>
            <a:avLst/>
            <a:gdLst/>
            <a:ahLst/>
            <a:cxnLst/>
            <a:rect r="r" b="b" t="t" l="l"/>
            <a:pathLst>
              <a:path h="4638314" w="10558029">
                <a:moveTo>
                  <a:pt x="0" y="0"/>
                </a:moveTo>
                <a:lnTo>
                  <a:pt x="10558029" y="0"/>
                </a:lnTo>
                <a:lnTo>
                  <a:pt x="10558029" y="4638314"/>
                </a:lnTo>
                <a:lnTo>
                  <a:pt x="0" y="46383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4738" y="313194"/>
            <a:ext cx="109985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44738" y="4590641"/>
            <a:ext cx="16230600" cy="87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en-US" b="true" sz="34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Z-SCORE = (ANOMALOUS_VALUE - NORMAL_MEAN) / NORMAL_STANDARD_DEVIATION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80502" y="1314510"/>
            <a:ext cx="13521816" cy="293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Features are: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in_degree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out_degree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total_amount_received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total_amount_sent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65487" y="2165687"/>
            <a:ext cx="8773253" cy="3144924"/>
          </a:xfrm>
          <a:custGeom>
            <a:avLst/>
            <a:gdLst/>
            <a:ahLst/>
            <a:cxnLst/>
            <a:rect r="r" b="b" t="t" l="l"/>
            <a:pathLst>
              <a:path h="3144924" w="8773253">
                <a:moveTo>
                  <a:pt x="0" y="0"/>
                </a:moveTo>
                <a:lnTo>
                  <a:pt x="8773253" y="0"/>
                </a:lnTo>
                <a:lnTo>
                  <a:pt x="8773253" y="3144924"/>
                </a:lnTo>
                <a:lnTo>
                  <a:pt x="0" y="31449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65487" y="6582912"/>
            <a:ext cx="8773253" cy="3048705"/>
          </a:xfrm>
          <a:custGeom>
            <a:avLst/>
            <a:gdLst/>
            <a:ahLst/>
            <a:cxnLst/>
            <a:rect r="r" b="b" t="t" l="l"/>
            <a:pathLst>
              <a:path h="3048705" w="8773253">
                <a:moveTo>
                  <a:pt x="0" y="0"/>
                </a:moveTo>
                <a:lnTo>
                  <a:pt x="8773253" y="0"/>
                </a:lnTo>
                <a:lnTo>
                  <a:pt x="8773253" y="3048705"/>
                </a:lnTo>
                <a:lnTo>
                  <a:pt x="0" y="3048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72915" y="313194"/>
            <a:ext cx="109985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RESULTS AND DISCUSSION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11269" y="1314510"/>
            <a:ext cx="13521816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Category 1: True Positives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11269" y="5529686"/>
            <a:ext cx="13521816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Category 2: Ambiguous Positives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76588" y="3929955"/>
            <a:ext cx="11957307" cy="3123847"/>
          </a:xfrm>
          <a:custGeom>
            <a:avLst/>
            <a:gdLst/>
            <a:ahLst/>
            <a:cxnLst/>
            <a:rect r="r" b="b" t="t" l="l"/>
            <a:pathLst>
              <a:path h="3123847" w="11957307">
                <a:moveTo>
                  <a:pt x="0" y="0"/>
                </a:moveTo>
                <a:lnTo>
                  <a:pt x="11957307" y="0"/>
                </a:lnTo>
                <a:lnTo>
                  <a:pt x="11957307" y="3123847"/>
                </a:lnTo>
                <a:lnTo>
                  <a:pt x="0" y="3123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65487" y="304800"/>
            <a:ext cx="1099852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COMPARATIVE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22457" y="1623000"/>
            <a:ext cx="13521816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Model agnostic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Hybrid of naive and preexisting GADs, bridging both cons.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GNNExplainer: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83365" y="6257806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265860" y="-1023938"/>
            <a:ext cx="10093406" cy="6000989"/>
          </a:xfrm>
          <a:custGeom>
            <a:avLst/>
            <a:gdLst/>
            <a:ahLst/>
            <a:cxnLst/>
            <a:rect r="r" b="b" t="t" l="l"/>
            <a:pathLst>
              <a:path h="6000989" w="10093406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9240">
            <a:off x="14107833" y="8613248"/>
            <a:ext cx="2252125" cy="1126062"/>
          </a:xfrm>
          <a:custGeom>
            <a:avLst/>
            <a:gdLst/>
            <a:ahLst/>
            <a:cxnLst/>
            <a:rect r="r" b="b" t="t" l="l"/>
            <a:pathLst>
              <a:path h="1126062" w="2252125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749240">
            <a:off x="1905275" y="650043"/>
            <a:ext cx="2128989" cy="1064495"/>
          </a:xfrm>
          <a:custGeom>
            <a:avLst/>
            <a:gdLst/>
            <a:ahLst/>
            <a:cxnLst/>
            <a:rect r="r" b="b" t="t" l="l"/>
            <a:pathLst>
              <a:path h="1064495" w="2128989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1586" y="8853488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69488" y="-983397"/>
            <a:ext cx="2364581" cy="2364581"/>
          </a:xfrm>
          <a:custGeom>
            <a:avLst/>
            <a:gdLst/>
            <a:ahLst/>
            <a:cxnLst/>
            <a:rect r="r" b="b" t="t" l="l"/>
            <a:pathLst>
              <a:path h="2364581" w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15856" y="3332480"/>
            <a:ext cx="9656288" cy="391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99"/>
              </a:lnSpc>
            </a:pPr>
            <a:r>
              <a:rPr lang="en-US" b="true" sz="150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THANK</a:t>
            </a:r>
          </a:p>
          <a:p>
            <a:pPr algn="ctr">
              <a:lnSpc>
                <a:spcPts val="15099"/>
              </a:lnSpc>
            </a:pPr>
            <a:r>
              <a:rPr lang="en-US" b="true" sz="15099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DAGzpnpQuNo</dc:identifier>
  <dcterms:modified xsi:type="dcterms:W3CDTF">2011-08-01T06:04:30Z</dcterms:modified>
  <cp:revision>1</cp:revision>
  <dc:title>Blue Grey Simple Group Project Presentation</dc:title>
</cp:coreProperties>
</file>